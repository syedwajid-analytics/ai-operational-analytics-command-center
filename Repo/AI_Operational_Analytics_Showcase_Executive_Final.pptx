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notesMasterIdLst>
    <p:notesMasterId r:id="rId9"/>
  </p:notesMasterIdLst>
  <p:sldIdLst>
    <p:sldId id="265" r:id="rId2"/>
    <p:sldId id="256" r:id="rId3"/>
    <p:sldId id="258" r:id="rId4"/>
    <p:sldId id="264" r:id="rId5"/>
    <p:sldId id="259" r:id="rId6"/>
    <p:sldId id="260" r:id="rId7"/>
    <p:sldId id="263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9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55C80-C489-43CD-8F44-0BE990EB4F6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1B47A6-429B-4DDB-9200-5E378AEDB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73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"/>
            <a:ext cx="12188825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1"/>
            <a:ext cx="12188825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081" y="4960137"/>
            <a:ext cx="7770376" cy="1463040"/>
          </a:xfrm>
        </p:spPr>
        <p:txBody>
          <a:bodyPr anchor="ctr">
            <a:normAutofit/>
          </a:bodyPr>
          <a:lstStyle>
            <a:lvl1pPr algn="r">
              <a:defRPr sz="4999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08357" y="4960137"/>
            <a:ext cx="3199567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799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063" indent="0" algn="ctr">
              <a:buNone/>
              <a:defRPr sz="17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799"/>
            </a:lvl4pPr>
            <a:lvl5pPr marL="1828251" indent="0" algn="ctr">
              <a:buNone/>
              <a:defRPr sz="1799"/>
            </a:lvl5pPr>
            <a:lvl6pPr marL="2285314" indent="0" algn="ctr">
              <a:buNone/>
              <a:defRPr sz="1799"/>
            </a:lvl6pPr>
            <a:lvl7pPr marL="2742377" indent="0" algn="ctr">
              <a:buNone/>
              <a:defRPr sz="1799"/>
            </a:lvl7pPr>
            <a:lvl8pPr marL="3199440" indent="0" algn="ctr">
              <a:buNone/>
              <a:defRPr sz="1799"/>
            </a:lvl8pPr>
            <a:lvl9pPr marL="3656503" indent="0" algn="ctr">
              <a:buNone/>
              <a:defRPr sz="17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4659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739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634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88825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1"/>
            <a:ext cx="12188825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4960137"/>
            <a:ext cx="7770376" cy="1463040"/>
          </a:xfrm>
        </p:spPr>
        <p:txBody>
          <a:bodyPr anchor="ctr">
            <a:normAutofit/>
          </a:bodyPr>
          <a:lstStyle>
            <a:lvl1pPr algn="r">
              <a:defRPr sz="4999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08357" y="4960137"/>
            <a:ext cx="3199567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99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4659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211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861" y="585216"/>
            <a:ext cx="9717541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3860" y="2286000"/>
            <a:ext cx="4753642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7760" y="2286000"/>
            <a:ext cx="4753642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601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3861" y="2179636"/>
            <a:ext cx="4753642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99" b="0" cap="none" baseline="0">
                <a:solidFill>
                  <a:schemeClr val="accent1"/>
                </a:solidFill>
                <a:latin typeface="+mn-lt"/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3861" y="2967788"/>
            <a:ext cx="4753642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8" y="2179636"/>
            <a:ext cx="4753642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9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marL="0" lvl="0" indent="0" algn="l" defTabSz="914126" rtl="0" eaLnBrk="1" latinLnBrk="0" hangingPunct="1">
              <a:lnSpc>
                <a:spcPct val="90000"/>
              </a:lnSpc>
              <a:spcBef>
                <a:spcPts val="1799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8" y="2967788"/>
            <a:ext cx="4753642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535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8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80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3861" y="471509"/>
            <a:ext cx="4387977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2" y="822960"/>
            <a:ext cx="5676945" cy="518464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3861" y="2257506"/>
            <a:ext cx="4387977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04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4960138"/>
            <a:ext cx="7770376" cy="1463040"/>
          </a:xfrm>
        </p:spPr>
        <p:txBody>
          <a:bodyPr anchor="ctr">
            <a:normAutofit/>
          </a:bodyPr>
          <a:lstStyle>
            <a:lvl1pPr algn="r">
              <a:defRPr sz="4999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5778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8357" y="4960138"/>
            <a:ext cx="3199567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99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4659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916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24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9" y="762000"/>
            <a:ext cx="262821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343" y="762000"/>
            <a:ext cx="7579926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5781" y="59382"/>
            <a:ext cx="0" cy="91416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601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13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3861" y="585216"/>
            <a:ext cx="9717541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3862" y="2286000"/>
            <a:ext cx="9717542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3863" y="6470704"/>
            <a:ext cx="215358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1671" y="6470704"/>
            <a:ext cx="589992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4511" y="6470704"/>
            <a:ext cx="97341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1802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863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</p:sldLayoutIdLst>
  <p:txStyles>
    <p:titleStyle>
      <a:lvl1pPr algn="l" defTabSz="914126" rtl="0" eaLnBrk="1" latinLnBrk="0" hangingPunct="1">
        <a:lnSpc>
          <a:spcPct val="80000"/>
        </a:lnSpc>
        <a:spcBef>
          <a:spcPct val="0"/>
        </a:spcBef>
        <a:buNone/>
        <a:defRPr sz="4999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13" indent="-91413" algn="l" defTabSz="914126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199" kern="1200">
          <a:solidFill>
            <a:schemeClr val="tx1"/>
          </a:solidFill>
          <a:latin typeface="+mn-lt"/>
          <a:ea typeface="+mn-ea"/>
          <a:cs typeface="+mn-cs"/>
        </a:defRPr>
      </a:lvl1pPr>
      <a:lvl2pPr marL="265096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447922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182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007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126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386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5787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047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AI Operational Analytics 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E87"/>
                </a:solidFill>
              </a:defRPr>
            </a:pPr>
            <a:r>
              <a:t>Enterprise analytics, AI-assisted diagnostics, governance-aware reporting, and future-ready decision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49377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45720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Purpose</a:t>
            </a:r>
          </a:p>
          <a:p>
            <a:pPr>
              <a:defRPr sz="1200">
                <a:solidFill>
                  <a:srgbClr val="5F6E87"/>
                </a:solidFill>
              </a:defRPr>
            </a:pPr>
            <a:r>
              <a:t>Operational analytics + conversational AI experience</a:t>
            </a:r>
          </a:p>
          <a:p>
            <a:pPr>
              <a:defRPr sz="1200">
                <a:solidFill>
                  <a:srgbClr val="5F6E87"/>
                </a:solidFill>
              </a:defRPr>
            </a:pPr>
            <a:endParaRPr/>
          </a:p>
          <a:p>
            <a:pPr>
              <a:defRPr sz="1600" b="1">
                <a:solidFill>
                  <a:srgbClr val="2563EB"/>
                </a:solidFill>
              </a:defRPr>
            </a:pPr>
            <a:r>
              <a:t>Technologies</a:t>
            </a:r>
          </a:p>
          <a:p>
            <a:pPr>
              <a:defRPr sz="1200">
                <a:solidFill>
                  <a:srgbClr val="5F6E87"/>
                </a:solidFill>
              </a:defRPr>
            </a:pPr>
            <a:r>
              <a:t>Power BI • Fabric • Streamlit • Python • OpenAI • Oracle</a:t>
            </a:r>
          </a:p>
          <a:p>
            <a:pPr>
              <a:defRPr sz="1200">
                <a:solidFill>
                  <a:srgbClr val="5F6E87"/>
                </a:solidFill>
              </a:defRPr>
            </a:pPr>
            <a:endParaRPr/>
          </a:p>
          <a:p>
            <a:pPr>
              <a:defRPr sz="1600" b="1">
                <a:solidFill>
                  <a:srgbClr val="2563EB"/>
                </a:solidFill>
              </a:defRPr>
            </a:pPr>
            <a:r>
              <a:t>Focus Areas</a:t>
            </a:r>
          </a:p>
          <a:p>
            <a:pPr>
              <a:defRPr sz="1200">
                <a:solidFill>
                  <a:srgbClr val="5F6E87"/>
                </a:solidFill>
              </a:defRPr>
            </a:pPr>
            <a:r>
              <a:t>Governance • KPI standardization • AI-ready reporting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560320"/>
            <a:ext cx="4754880" cy="2743200"/>
          </a:xfrm>
          <a:prstGeom prst="roundRect">
            <a:avLst/>
          </a:prstGeom>
          <a:solidFill>
            <a:srgbClr val="091128"/>
          </a:solidFill>
          <a:ln>
            <a:solidFill>
              <a:srgbClr val="09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2834640"/>
            <a:ext cx="3887603" cy="969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rPr dirty="0"/>
              <a:t>Vision</a:t>
            </a:r>
          </a:p>
          <a:p>
            <a:pPr>
              <a:defRPr sz="1300">
                <a:solidFill>
                  <a:srgbClr val="DCE6FF"/>
                </a:solidFill>
              </a:defRPr>
            </a:pPr>
            <a:r>
              <a:rPr dirty="0"/>
              <a:t>Moving beyond static dashboards toward AI-assisted</a:t>
            </a:r>
            <a:br>
              <a:rPr lang="en-US" dirty="0"/>
            </a:br>
            <a:r>
              <a:rPr dirty="0"/>
              <a:t> operational decision support using governed analytics, </a:t>
            </a:r>
            <a:br>
              <a:rPr lang="en-US" dirty="0"/>
            </a:br>
            <a:r>
              <a:rPr dirty="0"/>
              <a:t>semantic models, and conversational experiences.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0AABE"/>
                </a:solidFill>
              </a:defRPr>
            </a:pPr>
            <a:r>
              <a:t>Portfolio positioning • Senior BI • Analytics Architecture • AI-ready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high_resolution_multi_panel_dashboard_report_i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825" cy="54864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825" cy="54864"/>
          </a:xfrm>
          <a:prstGeom prst="rect">
            <a:avLst/>
          </a:prstGeom>
          <a:solidFill>
            <a:srgbClr val="080F23"/>
          </a:solidFill>
          <a:ln>
            <a:solidFill>
              <a:srgbClr val="080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AI Operational Analytics Command Center  •  AI-ready analytics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825" cy="73152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88825" cy="164592"/>
          </a:xfrm>
          <a:prstGeom prst="rect">
            <a:avLst/>
          </a:prstGeom>
          <a:solidFill>
            <a:srgbClr val="080F23"/>
          </a:solidFill>
          <a:ln>
            <a:solidFill>
              <a:srgbClr val="080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711696"/>
            <a:ext cx="73152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AI Operational Analytics Command Center  •  AI-ready Analytics Portfolio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93"/>
            <a:ext cx="12188520" cy="73133"/>
          </a:xfrm>
          <a:prstGeom prst="rect">
            <a:avLst/>
          </a:prstGeom>
          <a:solidFill>
            <a:srgbClr val="326295"/>
          </a:solidFill>
          <a:ln w="12700">
            <a:solidFill>
              <a:srgbClr val="326295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02789" y="384841"/>
            <a:ext cx="8410289" cy="38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lang="en-US" sz="2799" b="1" dirty="0">
                <a:solidFill>
                  <a:srgbClr val="0F172A"/>
                </a:solidFill>
              </a:rPr>
              <a:t>Executive overview: KPI-first command center</a:t>
            </a:r>
            <a:endParaRPr lang="en-US" sz="2799" dirty="0"/>
          </a:p>
        </p:txBody>
      </p:sp>
      <p:sp>
        <p:nvSpPr>
          <p:cNvPr id="4" name="Text 2"/>
          <p:cNvSpPr/>
          <p:nvPr/>
        </p:nvSpPr>
        <p:spPr>
          <a:xfrm>
            <a:off x="530213" y="805355"/>
            <a:ext cx="9598700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100">
                <a:solidFill>
                  <a:srgbClr val="5A6478"/>
                </a:solidFill>
              </a:defRPr>
            </a:pPr>
            <a:r>
              <a:rPr lang="en-US" sz="1200" dirty="0">
                <a:solidFill>
                  <a:srgbClr val="64748B"/>
                </a:solidFill>
              </a:rPr>
              <a:t>Designed for quick monitoring of workload, backlog, risk, and operating movement.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789" y="1125312"/>
            <a:ext cx="7770376" cy="4433685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>
            <a:outerShdw blurRad="38100" dist="19050" dir="2700000" algn="bl" rotWithShape="0">
              <a:srgbClr val="0F172A">
                <a:alpha val="13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7" name="Shape 4"/>
          <p:cNvSpPr/>
          <p:nvPr/>
        </p:nvSpPr>
        <p:spPr>
          <a:xfrm>
            <a:off x="8547413" y="1235012"/>
            <a:ext cx="2971026" cy="109699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8" name="Shape 5"/>
          <p:cNvSpPr/>
          <p:nvPr/>
        </p:nvSpPr>
        <p:spPr>
          <a:xfrm>
            <a:off x="8547413" y="1235012"/>
            <a:ext cx="63991" cy="1096994"/>
          </a:xfrm>
          <a:prstGeom prst="rect">
            <a:avLst/>
          </a:prstGeom>
          <a:solidFill>
            <a:srgbClr val="326295"/>
          </a:solidFill>
          <a:ln w="12700">
            <a:solidFill>
              <a:srgbClr val="326295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9" name="Text 6"/>
          <p:cNvSpPr/>
          <p:nvPr/>
        </p:nvSpPr>
        <p:spPr>
          <a:xfrm>
            <a:off x="8711962" y="1372136"/>
            <a:ext cx="2651069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lang="en-US" sz="1050" b="1" dirty="0">
                <a:solidFill>
                  <a:srgbClr val="0F172A"/>
                </a:solidFill>
              </a:rPr>
              <a:t>What it demonstrates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711962" y="1628101"/>
            <a:ext cx="2651069" cy="639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 sz="1100">
                <a:solidFill>
                  <a:srgbClr val="5A6478"/>
                </a:solidFill>
              </a:defRPr>
            </a:pPr>
            <a:r>
              <a:rPr lang="en-US" sz="870" dirty="0">
                <a:solidFill>
                  <a:srgbClr val="64748B"/>
                </a:solidFill>
              </a:rPr>
              <a:t>A clear executive KPI layer that makes workload, overdue items, closure, and backlog visible at a glance.</a:t>
            </a:r>
            <a:endParaRPr lang="en-US" sz="870" dirty="0"/>
          </a:p>
        </p:txBody>
      </p:sp>
      <p:sp>
        <p:nvSpPr>
          <p:cNvPr id="11" name="Shape 8"/>
          <p:cNvSpPr/>
          <p:nvPr/>
        </p:nvSpPr>
        <p:spPr>
          <a:xfrm>
            <a:off x="8547413" y="2651962"/>
            <a:ext cx="2971026" cy="100557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12" name="Shape 9"/>
          <p:cNvSpPr/>
          <p:nvPr/>
        </p:nvSpPr>
        <p:spPr>
          <a:xfrm>
            <a:off x="8547413" y="2651962"/>
            <a:ext cx="63991" cy="100557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13" name="Text 10"/>
          <p:cNvSpPr/>
          <p:nvPr/>
        </p:nvSpPr>
        <p:spPr>
          <a:xfrm>
            <a:off x="8711962" y="2789086"/>
            <a:ext cx="2651069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lang="en-US" sz="1050" b="1" dirty="0">
                <a:solidFill>
                  <a:srgbClr val="0F172A"/>
                </a:solidFill>
              </a:rPr>
              <a:t>UX decision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711962" y="3045052"/>
            <a:ext cx="2651069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 sz="1100">
                <a:solidFill>
                  <a:srgbClr val="5A6478"/>
                </a:solidFill>
              </a:defRPr>
            </a:pPr>
            <a:r>
              <a:rPr lang="en-US" sz="870" dirty="0">
                <a:solidFill>
                  <a:srgbClr val="64748B"/>
                </a:solidFill>
              </a:rPr>
              <a:t>Filters and navigation stay above the metrics, so leaders can change context without losing orientation.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8547413" y="3977497"/>
            <a:ext cx="2971026" cy="1051286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547413" y="3977497"/>
            <a:ext cx="63991" cy="1051286"/>
          </a:xfrm>
          <a:prstGeom prst="rect">
            <a:avLst/>
          </a:prstGeom>
          <a:solidFill>
            <a:srgbClr val="3FA34D"/>
          </a:solidFill>
          <a:ln w="12700">
            <a:solidFill>
              <a:srgbClr val="3FA34D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17" name="Text 14"/>
          <p:cNvSpPr/>
          <p:nvPr/>
        </p:nvSpPr>
        <p:spPr>
          <a:xfrm>
            <a:off x="8711962" y="4114621"/>
            <a:ext cx="2651069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lang="en-US" sz="1050" b="1" dirty="0">
                <a:solidFill>
                  <a:srgbClr val="0F172A"/>
                </a:solidFill>
              </a:rPr>
              <a:t>Portfolio value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711962" y="4370587"/>
            <a:ext cx="2651069" cy="59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lang="en-US" sz="870" dirty="0">
                <a:solidFill>
                  <a:srgbClr val="64748B"/>
                </a:solidFill>
              </a:rPr>
              <a:t>Shows dashboard design, KPI framing, operational analytics, and presentation thinking together.</a:t>
            </a:r>
            <a:endParaRPr lang="en-US" sz="870" dirty="0"/>
          </a:p>
        </p:txBody>
      </p:sp>
      <p:sp>
        <p:nvSpPr>
          <p:cNvPr id="19" name="Shape 16"/>
          <p:cNvSpPr/>
          <p:nvPr/>
        </p:nvSpPr>
        <p:spPr>
          <a:xfrm>
            <a:off x="502788" y="5650413"/>
            <a:ext cx="2623645" cy="530214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20" name="Text 17"/>
          <p:cNvSpPr/>
          <p:nvPr/>
        </p:nvSpPr>
        <p:spPr>
          <a:xfrm>
            <a:off x="639913" y="5741829"/>
            <a:ext cx="2331113" cy="14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lang="en-US" sz="750" b="1" dirty="0">
                <a:solidFill>
                  <a:srgbClr val="64748B"/>
                </a:solidFill>
              </a:rPr>
              <a:t>Open requests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39913" y="5915520"/>
            <a:ext cx="2331113" cy="18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lang="en-US" sz="1100" b="1" dirty="0">
                <a:solidFill>
                  <a:srgbClr val="326295"/>
                </a:solidFill>
              </a:rPr>
              <a:t>475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90982" y="5650413"/>
            <a:ext cx="2623645" cy="530214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23" name="Text 20"/>
          <p:cNvSpPr/>
          <p:nvPr/>
        </p:nvSpPr>
        <p:spPr>
          <a:xfrm>
            <a:off x="3428106" y="5741829"/>
            <a:ext cx="2331113" cy="14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lang="en-US" sz="750" b="1" dirty="0">
                <a:solidFill>
                  <a:srgbClr val="64748B"/>
                </a:solidFill>
              </a:rPr>
              <a:t>Backlog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428106" y="5915520"/>
            <a:ext cx="2331113" cy="18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lang="en-US" sz="1100" b="1" dirty="0">
                <a:solidFill>
                  <a:srgbClr val="F4A261"/>
                </a:solidFill>
              </a:rPr>
              <a:t>927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079176" y="5650413"/>
            <a:ext cx="2623645" cy="530214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26" name="Text 23"/>
          <p:cNvSpPr/>
          <p:nvPr/>
        </p:nvSpPr>
        <p:spPr>
          <a:xfrm>
            <a:off x="6216300" y="5741829"/>
            <a:ext cx="2331113" cy="14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lang="en-US" sz="750" b="1" dirty="0">
                <a:solidFill>
                  <a:srgbClr val="64748B"/>
                </a:solidFill>
              </a:rPr>
              <a:t>Closed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6216300" y="5915520"/>
            <a:ext cx="2331113" cy="18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lang="en-US" sz="1100" b="1" dirty="0">
                <a:solidFill>
                  <a:srgbClr val="3FA34D"/>
                </a:solidFill>
              </a:rPr>
              <a:t>784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867369" y="5650413"/>
            <a:ext cx="2623645" cy="530214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29" name="Text 26"/>
          <p:cNvSpPr/>
          <p:nvPr/>
        </p:nvSpPr>
        <p:spPr>
          <a:xfrm>
            <a:off x="9004494" y="5741829"/>
            <a:ext cx="2331113" cy="14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lang="en-US" sz="750" b="1" dirty="0">
                <a:solidFill>
                  <a:srgbClr val="64748B"/>
                </a:solidFill>
              </a:rPr>
              <a:t>Overdue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9004494" y="5915520"/>
            <a:ext cx="2331113" cy="18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lang="en-US" sz="1100" b="1" dirty="0">
                <a:solidFill>
                  <a:srgbClr val="D64545"/>
                </a:solidFill>
              </a:rPr>
              <a:t>139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02788" y="6473159"/>
            <a:ext cx="7678960" cy="228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lang="en-US" sz="750" dirty="0">
                <a:solidFill>
                  <a:srgbClr val="7E8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Operational Analytics Command Center • Portfolio Showcase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11244190" y="6464018"/>
            <a:ext cx="411373" cy="228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defRPr sz="1300" b="1">
                <a:solidFill>
                  <a:srgbClr val="0F172A"/>
                </a:solidFill>
              </a:defRPr>
            </a:pPr>
            <a:r>
              <a:rPr lang="en-US" sz="800" b="1" dirty="0">
                <a:solidFill>
                  <a:srgbClr val="7E8EA4"/>
                </a:solidFill>
              </a:rPr>
              <a:t>03</a:t>
            </a:r>
            <a:endParaRPr lang="en-US" sz="800" dirty="0"/>
          </a:p>
        </p:txBody>
      </p:sp>
      <p:pic>
        <p:nvPicPr>
          <p:cNvPr id="33" name="Picture 32" descr="25e35d81-0b93-4095-8388-1c89cb49b06c.png">
            <a:extLst>
              <a:ext uri="{FF2B5EF4-FFF2-40B4-BE49-F238E27FC236}">
                <a16:creationId xmlns:a16="http://schemas.microsoft.com/office/drawing/2014/main" id="{8E9DDB0E-135A-3769-E3AA-1FBAE1F35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303" y="1188601"/>
            <a:ext cx="6189553" cy="4250907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0"/>
            <a:ext cx="12188825" cy="54864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6803136"/>
            <a:ext cx="12188825" cy="54864"/>
          </a:xfrm>
          <a:prstGeom prst="rect">
            <a:avLst/>
          </a:prstGeom>
          <a:solidFill>
            <a:srgbClr val="080F23"/>
          </a:solidFill>
          <a:ln>
            <a:solidFill>
              <a:srgbClr val="080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88825" cy="73152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93"/>
            <a:ext cx="12188520" cy="73133"/>
          </a:xfrm>
          <a:prstGeom prst="rect">
            <a:avLst/>
          </a:prstGeom>
          <a:solidFill>
            <a:srgbClr val="326295"/>
          </a:solidFill>
          <a:ln w="12700">
            <a:solidFill>
              <a:srgbClr val="326295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02789" y="384841"/>
            <a:ext cx="8410289" cy="38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lang="en-US" sz="2799" b="1" dirty="0">
                <a:solidFill>
                  <a:srgbClr val="0F172A"/>
                </a:solidFill>
              </a:rPr>
              <a:t>Conversational analytics: governed KPI chat</a:t>
            </a:r>
            <a:endParaRPr lang="en-US" sz="2799" dirty="0"/>
          </a:p>
        </p:txBody>
      </p:sp>
      <p:sp>
        <p:nvSpPr>
          <p:cNvPr id="4" name="Text 2"/>
          <p:cNvSpPr/>
          <p:nvPr/>
        </p:nvSpPr>
        <p:spPr>
          <a:xfrm>
            <a:off x="530213" y="805355"/>
            <a:ext cx="9598700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100">
                <a:solidFill>
                  <a:srgbClr val="5A6478"/>
                </a:solidFill>
              </a:defRPr>
            </a:pPr>
            <a:r>
              <a:rPr lang="en-US" sz="1200" dirty="0">
                <a:solidFill>
                  <a:srgbClr val="64748B"/>
                </a:solidFill>
              </a:rPr>
              <a:t>The AI layer supports exploration when users need answers beyond fixed dashboard visuals.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39913" y="1189304"/>
            <a:ext cx="7313295" cy="2605361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>
            <a:outerShdw blurRad="38100" dist="19050" dir="2700000" algn="bl" rotWithShape="0">
              <a:srgbClr val="0F172A">
                <a:alpha val="13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7" name="Shape 4"/>
          <p:cNvSpPr/>
          <p:nvPr/>
        </p:nvSpPr>
        <p:spPr>
          <a:xfrm>
            <a:off x="685621" y="4160330"/>
            <a:ext cx="7221879" cy="1142702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>
            <a:outerShdw blurRad="25400" dist="12700" dir="27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8" name="Text 5"/>
          <p:cNvSpPr/>
          <p:nvPr/>
        </p:nvSpPr>
        <p:spPr>
          <a:xfrm>
            <a:off x="914162" y="4370587"/>
            <a:ext cx="2102572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lang="en-US" sz="1200" b="1" dirty="0">
                <a:solidFill>
                  <a:srgbClr val="0F172A"/>
                </a:solidFill>
              </a:rPr>
              <a:t>Example questions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162" y="4681402"/>
            <a:ext cx="6490549" cy="5027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lang="en-US" sz="950" dirty="0">
                <a:solidFill>
                  <a:srgbClr val="64748B"/>
                </a:solidFill>
              </a:rPr>
              <a:t>• What is the main risk?</a:t>
            </a:r>
            <a:endParaRPr lang="en-US" sz="950" dirty="0"/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rPr lang="en-US" sz="950" dirty="0">
                <a:solidFill>
                  <a:srgbClr val="64748B"/>
                </a:solidFill>
              </a:rPr>
              <a:t>• Which location needs attention?</a:t>
            </a:r>
            <a:endParaRPr lang="en-US" sz="950" dirty="0"/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rPr lang="en-US" sz="950" dirty="0">
                <a:solidFill>
                  <a:srgbClr val="64748B"/>
                </a:solidFill>
              </a:rPr>
              <a:t>• Which service category is slow?</a:t>
            </a:r>
            <a:endParaRPr lang="en-US" sz="950" dirty="0"/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rPr lang="en-US" sz="950" dirty="0">
                <a:solidFill>
                  <a:srgbClr val="64748B"/>
                </a:solidFill>
              </a:rPr>
              <a:t>• Summarize this dashboard for management.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273165" y="1235012"/>
            <a:ext cx="3153858" cy="1142702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11" name="Shape 8"/>
          <p:cNvSpPr/>
          <p:nvPr/>
        </p:nvSpPr>
        <p:spPr>
          <a:xfrm>
            <a:off x="8273165" y="1235012"/>
            <a:ext cx="63991" cy="1142702"/>
          </a:xfrm>
          <a:prstGeom prst="rect">
            <a:avLst/>
          </a:prstGeom>
          <a:solidFill>
            <a:srgbClr val="326295"/>
          </a:solidFill>
          <a:ln w="12700">
            <a:solidFill>
              <a:srgbClr val="326295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12" name="Text 9"/>
          <p:cNvSpPr/>
          <p:nvPr/>
        </p:nvSpPr>
        <p:spPr>
          <a:xfrm>
            <a:off x="8437714" y="1372136"/>
            <a:ext cx="2833902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lang="en-US" sz="1050" b="1" dirty="0">
                <a:solidFill>
                  <a:srgbClr val="0F172A"/>
                </a:solidFill>
              </a:rPr>
              <a:t>AI positioning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437714" y="1628101"/>
            <a:ext cx="2833902" cy="6856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lang="en-US" sz="870" dirty="0">
                <a:solidFill>
                  <a:srgbClr val="64748B"/>
                </a:solidFill>
              </a:rPr>
              <a:t>The prototype uses safe demo data today, but the architecture can evolve toward governed enterprise data and approved AI services.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8273165" y="2743379"/>
            <a:ext cx="3153858" cy="100557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15" name="Shape 12"/>
          <p:cNvSpPr/>
          <p:nvPr/>
        </p:nvSpPr>
        <p:spPr>
          <a:xfrm>
            <a:off x="8273165" y="2743379"/>
            <a:ext cx="63991" cy="1005578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16" name="Text 13"/>
          <p:cNvSpPr/>
          <p:nvPr/>
        </p:nvSpPr>
        <p:spPr>
          <a:xfrm>
            <a:off x="8437714" y="2880503"/>
            <a:ext cx="2833902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lang="en-US" sz="1050" b="1" dirty="0">
                <a:solidFill>
                  <a:srgbClr val="0F172A"/>
                </a:solidFill>
              </a:rPr>
              <a:t>Security principle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437714" y="3136468"/>
            <a:ext cx="2833902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 sz="1100">
                <a:solidFill>
                  <a:srgbClr val="5A6478"/>
                </a:solidFill>
              </a:defRPr>
            </a:pPr>
            <a:r>
              <a:rPr lang="en-US" sz="870" dirty="0">
                <a:solidFill>
                  <a:srgbClr val="64748B"/>
                </a:solidFill>
              </a:rPr>
              <a:t>The AI should answer from semantic models and approved data scopes, not unrestricted raw data.</a:t>
            </a:r>
            <a:endParaRPr lang="en-US" sz="870" dirty="0"/>
          </a:p>
        </p:txBody>
      </p:sp>
      <p:sp>
        <p:nvSpPr>
          <p:cNvPr id="18" name="Shape 15"/>
          <p:cNvSpPr/>
          <p:nvPr/>
        </p:nvSpPr>
        <p:spPr>
          <a:xfrm>
            <a:off x="8273165" y="4114621"/>
            <a:ext cx="3153858" cy="1051286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19" name="Shape 16"/>
          <p:cNvSpPr/>
          <p:nvPr/>
        </p:nvSpPr>
        <p:spPr>
          <a:xfrm>
            <a:off x="8273165" y="4114621"/>
            <a:ext cx="63991" cy="1051286"/>
          </a:xfrm>
          <a:prstGeom prst="rect">
            <a:avLst/>
          </a:prstGeom>
          <a:solidFill>
            <a:srgbClr val="3FA34D"/>
          </a:solidFill>
          <a:ln w="12700">
            <a:solidFill>
              <a:srgbClr val="3FA34D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20" name="Text 17"/>
          <p:cNvSpPr/>
          <p:nvPr/>
        </p:nvSpPr>
        <p:spPr>
          <a:xfrm>
            <a:off x="8437714" y="4251745"/>
            <a:ext cx="2833902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lang="en-US" sz="1050" b="1" dirty="0">
                <a:solidFill>
                  <a:srgbClr val="0F172A"/>
                </a:solidFill>
              </a:rPr>
              <a:t>Portfolio value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437714" y="4507711"/>
            <a:ext cx="2833902" cy="59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 sz="1100">
                <a:solidFill>
                  <a:srgbClr val="5A6478"/>
                </a:solidFill>
              </a:defRPr>
            </a:pPr>
            <a:r>
              <a:rPr lang="en-US" sz="870" dirty="0">
                <a:solidFill>
                  <a:srgbClr val="64748B"/>
                </a:solidFill>
              </a:rPr>
              <a:t>Shows ability to bridge BI, data governance, AI adoption, and business experience design.</a:t>
            </a:r>
            <a:endParaRPr lang="en-US" sz="870" dirty="0"/>
          </a:p>
        </p:txBody>
      </p:sp>
      <p:sp>
        <p:nvSpPr>
          <p:cNvPr id="22" name="Text 19"/>
          <p:cNvSpPr/>
          <p:nvPr/>
        </p:nvSpPr>
        <p:spPr>
          <a:xfrm>
            <a:off x="502788" y="6473159"/>
            <a:ext cx="7678960" cy="228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lang="en-US" sz="750" dirty="0">
                <a:solidFill>
                  <a:srgbClr val="7E8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Operational Analytics Command Center • Portfolio Showcase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244190" y="6464018"/>
            <a:ext cx="411373" cy="228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defRPr sz="1300" b="1">
                <a:solidFill>
                  <a:srgbClr val="0F172A"/>
                </a:solidFill>
              </a:defRPr>
            </a:pPr>
            <a:r>
              <a:rPr lang="en-US" sz="800" b="1" dirty="0">
                <a:solidFill>
                  <a:srgbClr val="7E8EA4"/>
                </a:solidFill>
              </a:rPr>
              <a:t>06</a:t>
            </a:r>
            <a:endParaRPr lang="en-US" sz="800" dirty="0"/>
          </a:p>
        </p:txBody>
      </p:sp>
      <p:pic>
        <p:nvPicPr>
          <p:cNvPr id="24" name="Picture 23" descr="4bc8ee03-4892-4987-a4de-dcb874ebfa35.png">
            <a:extLst>
              <a:ext uri="{FF2B5EF4-FFF2-40B4-BE49-F238E27FC236}">
                <a16:creationId xmlns:a16="http://schemas.microsoft.com/office/drawing/2014/main" id="{54CEF508-142A-25FE-8C58-7D8396327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12" y="1236378"/>
            <a:ext cx="7028164" cy="2448587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0"/>
            <a:ext cx="12188825" cy="54864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6803136"/>
            <a:ext cx="12188825" cy="54864"/>
          </a:xfrm>
          <a:prstGeom prst="rect">
            <a:avLst/>
          </a:prstGeom>
          <a:solidFill>
            <a:srgbClr val="080F23"/>
          </a:solidFill>
          <a:ln>
            <a:solidFill>
              <a:srgbClr val="080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88825" cy="73152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f5a15ce-a44a-40d9-ab48-f82381a171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95282"/>
            <a:ext cx="6105378" cy="5210472"/>
          </a:xfrm>
          <a:prstGeom prst="rect">
            <a:avLst/>
          </a:prstGeom>
        </p:spPr>
      </p:pic>
      <p:sp>
        <p:nvSpPr>
          <p:cNvPr id="18" name="Text 4">
            <a:extLst>
              <a:ext uri="{FF2B5EF4-FFF2-40B4-BE49-F238E27FC236}">
                <a16:creationId xmlns:a16="http://schemas.microsoft.com/office/drawing/2014/main" id="{FEB547BD-B049-9F3F-C22C-A6A8A25E24DE}"/>
              </a:ext>
            </a:extLst>
          </p:cNvPr>
          <p:cNvSpPr/>
          <p:nvPr/>
        </p:nvSpPr>
        <p:spPr>
          <a:xfrm>
            <a:off x="7909560" y="127351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300" b="1">
                <a:solidFill>
                  <a:srgbClr val="0F172A"/>
                </a:solidFill>
              </a:defRPr>
            </a:pPr>
            <a:r>
              <a:rPr lang="en-US" sz="1800" b="1" dirty="0">
                <a:solidFill>
                  <a:srgbClr val="0F172A"/>
                </a:solidFill>
              </a:rPr>
              <a:t>Diagnostic lens</a:t>
            </a:r>
            <a:endParaRPr lang="en-US" sz="18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6EFAA68E-8A2E-55D5-CF98-D9953CB0B381}"/>
              </a:ext>
            </a:extLst>
          </p:cNvPr>
          <p:cNvSpPr/>
          <p:nvPr/>
        </p:nvSpPr>
        <p:spPr>
          <a:xfrm>
            <a:off x="7909560" y="1703282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 sz="1100">
                <a:solidFill>
                  <a:srgbClr val="5A6478"/>
                </a:solidFill>
              </a:defRPr>
            </a:pPr>
            <a:r>
              <a:rPr lang="en-US" sz="1100" dirty="0">
                <a:solidFill>
                  <a:srgbClr val="64748B"/>
                </a:solidFill>
              </a:rPr>
              <a:t>This page is not only a chart view. It is designed to guide managers toward the queues, locations, and service categories that require action.</a:t>
            </a:r>
            <a:endParaRPr lang="en-US" sz="110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4D91D220-E4F6-894E-71EF-ECF79F127BD7}"/>
              </a:ext>
            </a:extLst>
          </p:cNvPr>
          <p:cNvSpPr/>
          <p:nvPr/>
        </p:nvSpPr>
        <p:spPr>
          <a:xfrm>
            <a:off x="7909560" y="2782274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5DFB224D-8152-E19A-184F-4DDDB376ED7F}"/>
              </a:ext>
            </a:extLst>
          </p:cNvPr>
          <p:cNvSpPr/>
          <p:nvPr/>
        </p:nvSpPr>
        <p:spPr>
          <a:xfrm>
            <a:off x="7909560" y="2782274"/>
            <a:ext cx="64008" cy="841248"/>
          </a:xfrm>
          <a:prstGeom prst="rect">
            <a:avLst/>
          </a:prstGeom>
          <a:solidFill>
            <a:srgbClr val="326295"/>
          </a:solidFill>
          <a:ln w="12700">
            <a:solidFill>
              <a:srgbClr val="326295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3D867A0F-33F6-A13C-E039-C92573D2E6B8}"/>
              </a:ext>
            </a:extLst>
          </p:cNvPr>
          <p:cNvSpPr/>
          <p:nvPr/>
        </p:nvSpPr>
        <p:spPr>
          <a:xfrm>
            <a:off x="8074152" y="291943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300" b="1">
                <a:solidFill>
                  <a:srgbClr val="0F172A"/>
                </a:solidFill>
              </a:defRPr>
            </a:pPr>
            <a:r>
              <a:rPr lang="en-US" sz="1050" b="1" dirty="0">
                <a:solidFill>
                  <a:srgbClr val="0F172A"/>
                </a:solidFill>
              </a:rPr>
              <a:t>Risk ranking</a:t>
            </a:r>
            <a:endParaRPr lang="en-US" sz="105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680AADF3-D606-6865-3042-56EA242A871C}"/>
              </a:ext>
            </a:extLst>
          </p:cNvPr>
          <p:cNvSpPr/>
          <p:nvPr/>
        </p:nvSpPr>
        <p:spPr>
          <a:xfrm>
            <a:off x="8074152" y="317546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 sz="1100">
                <a:solidFill>
                  <a:srgbClr val="5A6478"/>
                </a:solidFill>
              </a:defRPr>
            </a:pPr>
            <a:r>
              <a:rPr lang="en-US" sz="870" dirty="0">
                <a:solidFill>
                  <a:srgbClr val="64748B"/>
                </a:solidFill>
              </a:rPr>
              <a:t>Compares locations and service categories using volume, closure, pending, and resolution signals.</a:t>
            </a:r>
            <a:endParaRPr lang="en-US" sz="870" dirty="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D57408F6-4E93-473C-CAB3-249968646ED3}"/>
              </a:ext>
            </a:extLst>
          </p:cNvPr>
          <p:cNvSpPr/>
          <p:nvPr/>
        </p:nvSpPr>
        <p:spPr>
          <a:xfrm>
            <a:off x="7909560" y="3861266"/>
            <a:ext cx="35204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251C0AB8-DD7E-61B8-C219-01213BB72B13}"/>
              </a:ext>
            </a:extLst>
          </p:cNvPr>
          <p:cNvSpPr/>
          <p:nvPr/>
        </p:nvSpPr>
        <p:spPr>
          <a:xfrm>
            <a:off x="7909560" y="3861266"/>
            <a:ext cx="64008" cy="80467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25DE7D4E-9417-48DE-5DBC-E02FD1CC6223}"/>
              </a:ext>
            </a:extLst>
          </p:cNvPr>
          <p:cNvSpPr/>
          <p:nvPr/>
        </p:nvSpPr>
        <p:spPr>
          <a:xfrm>
            <a:off x="8074152" y="399842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300" b="1">
                <a:solidFill>
                  <a:srgbClr val="0F172A"/>
                </a:solidFill>
              </a:defRPr>
            </a:pPr>
            <a:r>
              <a:rPr lang="en-US" sz="1050" b="1" dirty="0">
                <a:solidFill>
                  <a:srgbClr val="0F172A"/>
                </a:solidFill>
              </a:rPr>
              <a:t>Actionability</a:t>
            </a:r>
            <a:endParaRPr lang="en-US" sz="105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355CEAAA-E9D5-3296-3F3D-4579A18DD62B}"/>
              </a:ext>
            </a:extLst>
          </p:cNvPr>
          <p:cNvSpPr/>
          <p:nvPr/>
        </p:nvSpPr>
        <p:spPr>
          <a:xfrm>
            <a:off x="8074152" y="425445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 sz="1100">
                <a:solidFill>
                  <a:srgbClr val="5A6478"/>
                </a:solidFill>
              </a:defRPr>
            </a:pPr>
            <a:r>
              <a:rPr lang="en-US" sz="870" dirty="0">
                <a:solidFill>
                  <a:srgbClr val="64748B"/>
                </a:solidFill>
              </a:rPr>
              <a:t>The dashboard should tell leadership where to investigate first, not only what happened.</a:t>
            </a:r>
            <a:endParaRPr lang="en-US" sz="870" dirty="0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6491DE89-39CA-2760-DC7A-B419ABEE86C4}"/>
              </a:ext>
            </a:extLst>
          </p:cNvPr>
          <p:cNvSpPr/>
          <p:nvPr/>
        </p:nvSpPr>
        <p:spPr>
          <a:xfrm>
            <a:off x="7909560" y="4903682"/>
            <a:ext cx="3520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57242DB1-A55D-69AA-0646-093882DA451A}"/>
              </a:ext>
            </a:extLst>
          </p:cNvPr>
          <p:cNvSpPr/>
          <p:nvPr/>
        </p:nvSpPr>
        <p:spPr>
          <a:xfrm>
            <a:off x="7909560" y="4903682"/>
            <a:ext cx="64008" cy="822960"/>
          </a:xfrm>
          <a:prstGeom prst="rect">
            <a:avLst/>
          </a:prstGeom>
          <a:solidFill>
            <a:srgbClr val="3FA34D"/>
          </a:solidFill>
          <a:ln w="12700">
            <a:solidFill>
              <a:srgbClr val="3FA34D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228D7932-B371-4992-30D6-4BAA566635A2}"/>
              </a:ext>
            </a:extLst>
          </p:cNvPr>
          <p:cNvSpPr/>
          <p:nvPr/>
        </p:nvSpPr>
        <p:spPr>
          <a:xfrm>
            <a:off x="8074152" y="504084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300" b="1">
                <a:solidFill>
                  <a:srgbClr val="0F172A"/>
                </a:solidFill>
              </a:defRPr>
            </a:pPr>
            <a:r>
              <a:rPr lang="en-US" sz="1050" b="1" dirty="0">
                <a:solidFill>
                  <a:srgbClr val="0F172A"/>
                </a:solidFill>
              </a:rPr>
              <a:t>Senior skill shown</a:t>
            </a:r>
            <a:endParaRPr lang="en-US" sz="1050" dirty="0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C192852B-A14F-17E7-AC8B-E3328EA39C7B}"/>
              </a:ext>
            </a:extLst>
          </p:cNvPr>
          <p:cNvSpPr/>
          <p:nvPr/>
        </p:nvSpPr>
        <p:spPr>
          <a:xfrm>
            <a:off x="8074152" y="529687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 sz="1100">
                <a:solidFill>
                  <a:srgbClr val="5A6478"/>
                </a:solidFill>
              </a:defRPr>
            </a:pPr>
            <a:r>
              <a:rPr lang="en-US" sz="870" dirty="0">
                <a:solidFill>
                  <a:srgbClr val="64748B"/>
                </a:solidFill>
              </a:rPr>
              <a:t>Business logic + metric design + operational process understanding.</a:t>
            </a:r>
            <a:endParaRPr lang="en-US" sz="870" dirty="0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625C63DB-1D39-5FA0-4098-8133A6A1AD15}"/>
              </a:ext>
            </a:extLst>
          </p:cNvPr>
          <p:cNvSpPr/>
          <p:nvPr/>
        </p:nvSpPr>
        <p:spPr>
          <a:xfrm>
            <a:off x="50292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400" b="1">
                <a:solidFill>
                  <a:srgbClr val="0F172A"/>
                </a:solidFill>
              </a:defRPr>
            </a:pPr>
            <a:r>
              <a:rPr lang="en-US" sz="2800" b="1" dirty="0">
                <a:solidFill>
                  <a:srgbClr val="0F172A"/>
                </a:solidFill>
              </a:rPr>
              <a:t>Operational diagnostics: risk visibility</a:t>
            </a:r>
            <a:endParaRPr lang="en-US" sz="2800" dirty="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D53E5A99-DED7-396B-E7E7-FBF8CC038F61}"/>
              </a:ext>
            </a:extLst>
          </p:cNvPr>
          <p:cNvSpPr/>
          <p:nvPr/>
        </p:nvSpPr>
        <p:spPr>
          <a:xfrm>
            <a:off x="530352" y="8046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100">
                <a:solidFill>
                  <a:srgbClr val="5A6478"/>
                </a:solidFill>
              </a:defRPr>
            </a:pPr>
            <a:r>
              <a:rPr lang="en-US" sz="1200" dirty="0">
                <a:solidFill>
                  <a:srgbClr val="64748B"/>
                </a:solidFill>
              </a:rPr>
              <a:t>Moving from descriptive reporting toward diagnostic decision support.</a:t>
            </a:r>
            <a:endParaRPr lang="en-US" sz="1200" dirty="0"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2188825" cy="54864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6803136"/>
            <a:ext cx="12188825" cy="54864"/>
          </a:xfrm>
          <a:prstGeom prst="rect">
            <a:avLst/>
          </a:prstGeom>
          <a:solidFill>
            <a:srgbClr val="080F23"/>
          </a:solidFill>
          <a:ln>
            <a:solidFill>
              <a:srgbClr val="080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12188825" cy="73152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b32d21f-3766-46b4-a55f-cbb0e6e6fe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70938"/>
            <a:ext cx="5867946" cy="457043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0" y="782711"/>
            <a:ext cx="29718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8" name="Shape 5"/>
          <p:cNvSpPr/>
          <p:nvPr/>
        </p:nvSpPr>
        <p:spPr>
          <a:xfrm>
            <a:off x="8321040" y="782711"/>
            <a:ext cx="64008" cy="932688"/>
          </a:xfrm>
          <a:prstGeom prst="rect">
            <a:avLst/>
          </a:prstGeom>
          <a:solidFill>
            <a:srgbClr val="326295"/>
          </a:solidFill>
          <a:ln w="12700">
            <a:solidFill>
              <a:srgbClr val="326295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9" name="Text 6"/>
          <p:cNvSpPr/>
          <p:nvPr/>
        </p:nvSpPr>
        <p:spPr>
          <a:xfrm>
            <a:off x="8485632" y="919871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300" b="1">
                <a:solidFill>
                  <a:srgbClr val="0F172A"/>
                </a:solidFill>
              </a:defRPr>
            </a:pPr>
            <a:r>
              <a:rPr lang="en-US" sz="1050" b="1" dirty="0">
                <a:solidFill>
                  <a:srgbClr val="0F172A"/>
                </a:solidFill>
              </a:rPr>
              <a:t>Channel mix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485632" y="1175903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 sz="1100">
                <a:solidFill>
                  <a:srgbClr val="5A6478"/>
                </a:solidFill>
              </a:defRPr>
            </a:pPr>
            <a:r>
              <a:rPr lang="en-US" sz="870" dirty="0">
                <a:solidFill>
                  <a:srgbClr val="64748B"/>
                </a:solidFill>
              </a:rPr>
              <a:t>Highlights how requests arrive across web, email, phone, WhatsApp, chat, and branch channels.</a:t>
            </a:r>
            <a:endParaRPr lang="en-US" sz="870" dirty="0"/>
          </a:p>
        </p:txBody>
      </p:sp>
      <p:sp>
        <p:nvSpPr>
          <p:cNvPr id="11" name="Shape 8"/>
          <p:cNvSpPr/>
          <p:nvPr/>
        </p:nvSpPr>
        <p:spPr>
          <a:xfrm>
            <a:off x="8321040" y="1971431"/>
            <a:ext cx="29718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12" name="Shape 9"/>
          <p:cNvSpPr/>
          <p:nvPr/>
        </p:nvSpPr>
        <p:spPr>
          <a:xfrm>
            <a:off x="8321040" y="1971431"/>
            <a:ext cx="64008" cy="896112"/>
          </a:xfrm>
          <a:prstGeom prst="rect">
            <a:avLst/>
          </a:prstGeom>
          <a:solidFill>
            <a:srgbClr val="3FA34D"/>
          </a:solidFill>
          <a:ln w="12700">
            <a:solidFill>
              <a:srgbClr val="3FA34D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13" name="Text 10"/>
          <p:cNvSpPr/>
          <p:nvPr/>
        </p:nvSpPr>
        <p:spPr>
          <a:xfrm>
            <a:off x="8485632" y="2108591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300" b="1">
                <a:solidFill>
                  <a:srgbClr val="0F172A"/>
                </a:solidFill>
              </a:defRPr>
            </a:pPr>
            <a:r>
              <a:rPr lang="en-US" sz="1050" b="1" dirty="0">
                <a:solidFill>
                  <a:srgbClr val="0F172A"/>
                </a:solidFill>
              </a:rPr>
              <a:t>Customer view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485632" y="2364623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 sz="1100">
                <a:solidFill>
                  <a:srgbClr val="5A6478"/>
                </a:solidFill>
              </a:defRPr>
            </a:pPr>
            <a:r>
              <a:rPr lang="en-US" sz="870" dirty="0">
                <a:solidFill>
                  <a:srgbClr val="64748B"/>
                </a:solidFill>
              </a:rPr>
              <a:t>Connects operations to customer segments and priority populations.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8321040" y="3132719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321040" y="3132719"/>
            <a:ext cx="64008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17" name="Text 14"/>
          <p:cNvSpPr/>
          <p:nvPr/>
        </p:nvSpPr>
        <p:spPr>
          <a:xfrm>
            <a:off x="8485632" y="3269879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300" b="1">
                <a:solidFill>
                  <a:srgbClr val="0F172A"/>
                </a:solidFill>
              </a:defRPr>
            </a:pPr>
            <a:r>
              <a:rPr lang="en-US" sz="1050" b="1" dirty="0">
                <a:solidFill>
                  <a:srgbClr val="0F172A"/>
                </a:solidFill>
              </a:rPr>
              <a:t>BI value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485632" y="3525911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 sz="1100">
                <a:solidFill>
                  <a:srgbClr val="5A6478"/>
                </a:solidFill>
              </a:defRPr>
            </a:pPr>
            <a:r>
              <a:rPr lang="en-US" sz="870" dirty="0">
                <a:solidFill>
                  <a:srgbClr val="64748B"/>
                </a:solidFill>
              </a:rPr>
              <a:t>Shows report consumers both top-level metrics and supporting transaction-level preview.</a:t>
            </a:r>
            <a:endParaRPr lang="en-US" sz="870" dirty="0"/>
          </a:p>
        </p:txBody>
      </p:sp>
      <p:sp>
        <p:nvSpPr>
          <p:cNvPr id="19" name="Shape 16"/>
          <p:cNvSpPr/>
          <p:nvPr/>
        </p:nvSpPr>
        <p:spPr>
          <a:xfrm>
            <a:off x="8321040" y="4440311"/>
            <a:ext cx="2971800" cy="749808"/>
          </a:xfrm>
          <a:prstGeom prst="roundRect">
            <a:avLst>
              <a:gd name="adj" fmla="val 9756"/>
            </a:avLst>
          </a:prstGeom>
          <a:solidFill>
            <a:srgbClr val="EDF7FF"/>
          </a:solidFill>
          <a:ln w="12700">
            <a:solidFill>
              <a:srgbClr val="CFE5F7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20" name="Text 17"/>
          <p:cNvSpPr/>
          <p:nvPr/>
        </p:nvSpPr>
        <p:spPr>
          <a:xfrm>
            <a:off x="8531352" y="4668911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300">
                <a:solidFill>
                  <a:srgbClr val="0F172A"/>
                </a:solidFill>
              </a:defRPr>
            </a:pPr>
            <a:r>
              <a:rPr lang="en-US" sz="1200" b="1" dirty="0">
                <a:solidFill>
                  <a:srgbClr val="326295"/>
                </a:solidFill>
              </a:rPr>
              <a:t>Designed for business users, not only analysts.</a:t>
            </a:r>
            <a:endParaRPr lang="en-US" sz="12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D1B3BAC-1670-9E31-D0A0-A703DD68C002}"/>
              </a:ext>
            </a:extLst>
          </p:cNvPr>
          <p:cNvSpPr/>
          <p:nvPr/>
        </p:nvSpPr>
        <p:spPr>
          <a:xfrm>
            <a:off x="530352" y="8046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100">
                <a:solidFill>
                  <a:srgbClr val="5A6478"/>
                </a:solidFill>
              </a:defRPr>
            </a:pPr>
            <a:r>
              <a:rPr lang="en-US" sz="1200" dirty="0">
                <a:solidFill>
                  <a:srgbClr val="64748B"/>
                </a:solidFill>
              </a:rPr>
              <a:t>A page designed to explain how demand arrives and which customer groups are affected.</a:t>
            </a:r>
            <a:endParaRPr lang="en-US" sz="12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FDA7F87D-7795-6D08-A51B-AE7ABEF2D809}"/>
              </a:ext>
            </a:extLst>
          </p:cNvPr>
          <p:cNvSpPr/>
          <p:nvPr/>
        </p:nvSpPr>
        <p:spPr>
          <a:xfrm>
            <a:off x="50292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400" b="1">
                <a:solidFill>
                  <a:srgbClr val="0F172A"/>
                </a:solidFill>
              </a:defRPr>
            </a:pPr>
            <a:r>
              <a:rPr lang="en-US" sz="2800" b="1" dirty="0">
                <a:solidFill>
                  <a:srgbClr val="0F172A"/>
                </a:solidFill>
              </a:rPr>
              <a:t>Customer &amp; channel analytics</a:t>
            </a:r>
            <a:endParaRPr lang="en-US" sz="2800" dirty="0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825" cy="54864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803136"/>
            <a:ext cx="12188825" cy="54864"/>
          </a:xfrm>
          <a:prstGeom prst="rect">
            <a:avLst/>
          </a:prstGeom>
          <a:solidFill>
            <a:srgbClr val="080F23"/>
          </a:solidFill>
          <a:ln>
            <a:solidFill>
              <a:srgbClr val="080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88825" cy="73152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93"/>
            <a:ext cx="12188520" cy="73133"/>
          </a:xfrm>
          <a:prstGeom prst="rect">
            <a:avLst/>
          </a:prstGeom>
          <a:solidFill>
            <a:srgbClr val="326295"/>
          </a:solidFill>
          <a:ln w="12700">
            <a:solidFill>
              <a:srgbClr val="326295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02789" y="384841"/>
            <a:ext cx="8410289" cy="38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lang="en-US" sz="2799" b="1" dirty="0">
                <a:solidFill>
                  <a:srgbClr val="0F172A"/>
                </a:solidFill>
              </a:rPr>
              <a:t>Target architecture: AI-assisted analytics</a:t>
            </a:r>
            <a:endParaRPr lang="en-US" sz="2799" dirty="0"/>
          </a:p>
        </p:txBody>
      </p:sp>
      <p:sp>
        <p:nvSpPr>
          <p:cNvPr id="4" name="Text 2"/>
          <p:cNvSpPr/>
          <p:nvPr/>
        </p:nvSpPr>
        <p:spPr>
          <a:xfrm>
            <a:off x="530213" y="805355"/>
            <a:ext cx="9598700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100">
                <a:solidFill>
                  <a:srgbClr val="5A6478"/>
                </a:solidFill>
              </a:defRPr>
            </a:pPr>
            <a:r>
              <a:rPr lang="en-US" sz="1200" dirty="0">
                <a:solidFill>
                  <a:srgbClr val="64748B"/>
                </a:solidFill>
              </a:rPr>
              <a:t>The prototype is static today; the design direction is scalable and governance-aware.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572358" y="3182176"/>
            <a:ext cx="658197" cy="0"/>
          </a:xfrm>
          <a:prstGeom prst="line">
            <a:avLst/>
          </a:prstGeom>
          <a:noFill/>
          <a:ln w="21590">
            <a:solidFill>
              <a:srgbClr val="32629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6" name="Shape 4"/>
          <p:cNvSpPr/>
          <p:nvPr/>
        </p:nvSpPr>
        <p:spPr>
          <a:xfrm>
            <a:off x="3263557" y="3182176"/>
            <a:ext cx="658197" cy="0"/>
          </a:xfrm>
          <a:prstGeom prst="line">
            <a:avLst/>
          </a:prstGeom>
          <a:noFill/>
          <a:ln w="21590">
            <a:solidFill>
              <a:srgbClr val="32629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7" name="Shape 5"/>
          <p:cNvSpPr/>
          <p:nvPr/>
        </p:nvSpPr>
        <p:spPr>
          <a:xfrm>
            <a:off x="4954757" y="3182176"/>
            <a:ext cx="658197" cy="0"/>
          </a:xfrm>
          <a:prstGeom prst="line">
            <a:avLst/>
          </a:prstGeom>
          <a:noFill/>
          <a:ln w="21590">
            <a:solidFill>
              <a:srgbClr val="32629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8" name="Shape 6"/>
          <p:cNvSpPr/>
          <p:nvPr/>
        </p:nvSpPr>
        <p:spPr>
          <a:xfrm>
            <a:off x="6645956" y="3182176"/>
            <a:ext cx="658197" cy="0"/>
          </a:xfrm>
          <a:prstGeom prst="line">
            <a:avLst/>
          </a:prstGeom>
          <a:noFill/>
          <a:ln w="21590">
            <a:solidFill>
              <a:srgbClr val="32629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9" name="Shape 7"/>
          <p:cNvSpPr/>
          <p:nvPr/>
        </p:nvSpPr>
        <p:spPr>
          <a:xfrm>
            <a:off x="8337156" y="3182176"/>
            <a:ext cx="658197" cy="0"/>
          </a:xfrm>
          <a:prstGeom prst="line">
            <a:avLst/>
          </a:prstGeom>
          <a:noFill/>
          <a:ln w="21590">
            <a:solidFill>
              <a:srgbClr val="32629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028355" y="3182176"/>
            <a:ext cx="658197" cy="0"/>
          </a:xfrm>
          <a:prstGeom prst="line">
            <a:avLst/>
          </a:prstGeom>
          <a:noFill/>
          <a:ln w="21590">
            <a:solidFill>
              <a:srgbClr val="32629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11" name="Shape 9"/>
          <p:cNvSpPr/>
          <p:nvPr/>
        </p:nvSpPr>
        <p:spPr>
          <a:xfrm>
            <a:off x="639913" y="2926211"/>
            <a:ext cx="1261543" cy="80446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E2ED"/>
            </a:solidFill>
            <a:prstDash val="solid"/>
          </a:ln>
          <a:effectLst>
            <a:outerShdw blurRad="25400" dist="12700" dir="27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39913" y="2926211"/>
            <a:ext cx="1261543" cy="73133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13" name="Text 11"/>
          <p:cNvSpPr/>
          <p:nvPr/>
        </p:nvSpPr>
        <p:spPr>
          <a:xfrm>
            <a:off x="703904" y="3136468"/>
            <a:ext cx="113356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lang="en-US" sz="810" b="1" dirty="0">
                <a:solidFill>
                  <a:srgbClr val="0F172A"/>
                </a:solidFill>
              </a:rPr>
              <a:t>Oracle / ERP</a:t>
            </a:r>
            <a:endParaRPr lang="en-US" sz="810" dirty="0"/>
          </a:p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lang="en-US" sz="810" b="1" dirty="0">
                <a:solidFill>
                  <a:srgbClr val="0F172A"/>
                </a:solidFill>
              </a:rPr>
              <a:t>Operational Data</a:t>
            </a:r>
            <a:endParaRPr lang="en-US" sz="810" dirty="0"/>
          </a:p>
        </p:txBody>
      </p:sp>
      <p:sp>
        <p:nvSpPr>
          <p:cNvPr id="14" name="Shape 12"/>
          <p:cNvSpPr/>
          <p:nvPr/>
        </p:nvSpPr>
        <p:spPr>
          <a:xfrm>
            <a:off x="2331112" y="2926211"/>
            <a:ext cx="1261543" cy="80446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E2ED"/>
            </a:solidFill>
            <a:prstDash val="solid"/>
          </a:ln>
          <a:effectLst>
            <a:outerShdw blurRad="25400" dist="12700" dir="27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331112" y="2926211"/>
            <a:ext cx="1261543" cy="73133"/>
          </a:xfrm>
          <a:prstGeom prst="rect">
            <a:avLst/>
          </a:prstGeom>
          <a:solidFill>
            <a:srgbClr val="326295"/>
          </a:solidFill>
          <a:ln w="12700">
            <a:solidFill>
              <a:srgbClr val="326295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2395103" y="3136468"/>
            <a:ext cx="113356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lang="en-US" sz="810" b="1" dirty="0">
                <a:solidFill>
                  <a:srgbClr val="0F172A"/>
                </a:solidFill>
              </a:rPr>
              <a:t>OneLake /</a:t>
            </a:r>
            <a:endParaRPr lang="en-US" sz="810" dirty="0"/>
          </a:p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lang="en-US" sz="810" b="1" dirty="0">
                <a:solidFill>
                  <a:srgbClr val="0F172A"/>
                </a:solidFill>
              </a:rPr>
              <a:t>Lakehouse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4022312" y="2926211"/>
            <a:ext cx="1261543" cy="80446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E2ED"/>
            </a:solidFill>
            <a:prstDash val="solid"/>
          </a:ln>
          <a:effectLst>
            <a:outerShdw blurRad="25400" dist="12700" dir="27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022312" y="2926211"/>
            <a:ext cx="1261543" cy="73133"/>
          </a:xfrm>
          <a:prstGeom prst="rect">
            <a:avLst/>
          </a:prstGeom>
          <a:solidFill>
            <a:srgbClr val="326295"/>
          </a:solidFill>
          <a:ln w="12700">
            <a:solidFill>
              <a:srgbClr val="326295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19" name="Text 17"/>
          <p:cNvSpPr/>
          <p:nvPr/>
        </p:nvSpPr>
        <p:spPr>
          <a:xfrm>
            <a:off x="4086303" y="3136468"/>
            <a:ext cx="113356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lang="en-US" sz="810" b="1" dirty="0">
                <a:solidFill>
                  <a:srgbClr val="0F172A"/>
                </a:solidFill>
              </a:rPr>
              <a:t>Bronze • Silver</a:t>
            </a:r>
            <a:endParaRPr lang="en-US" sz="810" dirty="0"/>
          </a:p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lang="en-US" sz="810" b="1" dirty="0">
                <a:solidFill>
                  <a:srgbClr val="0F172A"/>
                </a:solidFill>
              </a:rPr>
              <a:t>Gold Layers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5713511" y="2926211"/>
            <a:ext cx="1261543" cy="80446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E2ED"/>
            </a:solidFill>
            <a:prstDash val="solid"/>
          </a:ln>
          <a:effectLst>
            <a:outerShdw blurRad="25400" dist="12700" dir="27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713511" y="2926211"/>
            <a:ext cx="1261543" cy="73133"/>
          </a:xfrm>
          <a:prstGeom prst="rect">
            <a:avLst/>
          </a:prstGeom>
          <a:solidFill>
            <a:srgbClr val="3FA34D"/>
          </a:solidFill>
          <a:ln w="12700">
            <a:solidFill>
              <a:srgbClr val="3FA34D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22" name="Text 20"/>
          <p:cNvSpPr/>
          <p:nvPr/>
        </p:nvSpPr>
        <p:spPr>
          <a:xfrm>
            <a:off x="5777502" y="3136468"/>
            <a:ext cx="113356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lang="en-US" sz="810" b="1" dirty="0">
                <a:solidFill>
                  <a:srgbClr val="0F172A"/>
                </a:solidFill>
              </a:rPr>
              <a:t>Power BI</a:t>
            </a:r>
            <a:endParaRPr lang="en-US" sz="810" dirty="0"/>
          </a:p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lang="en-US" sz="810" b="1" dirty="0">
                <a:solidFill>
                  <a:srgbClr val="0F172A"/>
                </a:solidFill>
              </a:rPr>
              <a:t>Semantic Model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7404711" y="2926211"/>
            <a:ext cx="1261543" cy="80446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E2ED"/>
            </a:solidFill>
            <a:prstDash val="solid"/>
          </a:ln>
          <a:effectLst>
            <a:outerShdw blurRad="25400" dist="12700" dir="27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24" name="Shape 22"/>
          <p:cNvSpPr/>
          <p:nvPr/>
        </p:nvSpPr>
        <p:spPr>
          <a:xfrm>
            <a:off x="7404711" y="2926211"/>
            <a:ext cx="1261543" cy="73133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25" name="Text 23"/>
          <p:cNvSpPr/>
          <p:nvPr/>
        </p:nvSpPr>
        <p:spPr>
          <a:xfrm>
            <a:off x="7468702" y="3136468"/>
            <a:ext cx="113356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lang="en-US" sz="810" b="1" dirty="0">
                <a:solidFill>
                  <a:srgbClr val="0F172A"/>
                </a:solidFill>
              </a:rPr>
              <a:t>Dashboard</a:t>
            </a:r>
            <a:endParaRPr lang="en-US" sz="810" dirty="0"/>
          </a:p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lang="en-US" sz="810" b="1" dirty="0">
                <a:solidFill>
                  <a:srgbClr val="0F172A"/>
                </a:solidFill>
              </a:rPr>
              <a:t>Experience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9095910" y="2926211"/>
            <a:ext cx="1261543" cy="80446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E2ED"/>
            </a:solidFill>
            <a:prstDash val="solid"/>
          </a:ln>
          <a:effectLst>
            <a:outerShdw blurRad="25400" dist="12700" dir="27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095910" y="2926211"/>
            <a:ext cx="1261543" cy="73133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28" name="Text 26"/>
          <p:cNvSpPr/>
          <p:nvPr/>
        </p:nvSpPr>
        <p:spPr>
          <a:xfrm>
            <a:off x="9159901" y="3136468"/>
            <a:ext cx="113356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lang="en-US" sz="810" b="1" dirty="0">
                <a:solidFill>
                  <a:srgbClr val="0F172A"/>
                </a:solidFill>
              </a:rPr>
              <a:t>AI Assistant</a:t>
            </a:r>
            <a:endParaRPr lang="en-US" sz="810" dirty="0"/>
          </a:p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lang="en-US" sz="810" b="1" dirty="0">
                <a:solidFill>
                  <a:srgbClr val="0F172A"/>
                </a:solidFill>
              </a:rPr>
              <a:t>Layer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10787110" y="2926211"/>
            <a:ext cx="1261543" cy="80446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E2ED"/>
            </a:solidFill>
            <a:prstDash val="solid"/>
          </a:ln>
          <a:effectLst>
            <a:outerShdw blurRad="25400" dist="12700" dir="27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30" name="Shape 28"/>
          <p:cNvSpPr/>
          <p:nvPr/>
        </p:nvSpPr>
        <p:spPr>
          <a:xfrm>
            <a:off x="10787110" y="2926211"/>
            <a:ext cx="1261543" cy="73133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851101" y="3136468"/>
            <a:ext cx="113356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lang="en-US" sz="810" b="1" dirty="0">
                <a:solidFill>
                  <a:srgbClr val="0F172A"/>
                </a:solidFill>
              </a:rPr>
              <a:t>Executive</a:t>
            </a:r>
            <a:endParaRPr lang="en-US" sz="810" dirty="0"/>
          </a:p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lang="en-US" sz="810" b="1" dirty="0">
                <a:solidFill>
                  <a:srgbClr val="0F172A"/>
                </a:solidFill>
              </a:rPr>
              <a:t>Insights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959869" y="1235012"/>
            <a:ext cx="10192905" cy="100557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33" name="Text 31"/>
          <p:cNvSpPr/>
          <p:nvPr/>
        </p:nvSpPr>
        <p:spPr>
          <a:xfrm>
            <a:off x="1234118" y="1445269"/>
            <a:ext cx="2285405" cy="228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lang="en-US" sz="1200" b="1" dirty="0">
                <a:solidFill>
                  <a:srgbClr val="0F172A"/>
                </a:solidFill>
              </a:rPr>
              <a:t>Architecture decision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729780" y="1353852"/>
            <a:ext cx="6947630" cy="43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lang="en-US" sz="1050" dirty="0">
                <a:solidFill>
                  <a:srgbClr val="64748B"/>
                </a:solidFill>
              </a:rPr>
              <a:t>The AI is not a separate toy app. It sits on top of trusted analytics assets: curated data, semantic definitions, and governed access. That is the difference between a demo and an enterprise-ready direction.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59869" y="4571702"/>
            <a:ext cx="3245275" cy="822746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59870" y="4571702"/>
            <a:ext cx="63991" cy="822746"/>
          </a:xfrm>
          <a:prstGeom prst="rect">
            <a:avLst/>
          </a:prstGeom>
          <a:solidFill>
            <a:srgbClr val="326295"/>
          </a:solidFill>
          <a:ln w="12700">
            <a:solidFill>
              <a:srgbClr val="326295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37" name="Text 35"/>
          <p:cNvSpPr/>
          <p:nvPr/>
        </p:nvSpPr>
        <p:spPr>
          <a:xfrm>
            <a:off x="1124419" y="4708826"/>
            <a:ext cx="2925318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lang="en-US" sz="1050" b="1" dirty="0">
                <a:solidFill>
                  <a:srgbClr val="0F172A"/>
                </a:solidFill>
              </a:rPr>
              <a:t>Governance layer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24419" y="4964792"/>
            <a:ext cx="2925318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 sz="1100">
                <a:solidFill>
                  <a:srgbClr val="5A6478"/>
                </a:solidFill>
              </a:defRPr>
            </a:pPr>
            <a:r>
              <a:rPr lang="en-US" sz="870" dirty="0">
                <a:solidFill>
                  <a:srgbClr val="64748B"/>
                </a:solidFill>
              </a:rPr>
              <a:t>Role-based access, approved datasets, semantic KPI definitions, and safe AI boundaries.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4479393" y="4571702"/>
            <a:ext cx="3245275" cy="822746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40" name="Shape 38"/>
          <p:cNvSpPr/>
          <p:nvPr/>
        </p:nvSpPr>
        <p:spPr>
          <a:xfrm>
            <a:off x="4479393" y="4571702"/>
            <a:ext cx="63991" cy="822746"/>
          </a:xfrm>
          <a:prstGeom prst="rect">
            <a:avLst/>
          </a:prstGeom>
          <a:solidFill>
            <a:srgbClr val="3FA34D"/>
          </a:solidFill>
          <a:ln w="12700">
            <a:solidFill>
              <a:srgbClr val="3FA34D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41" name="Text 39"/>
          <p:cNvSpPr/>
          <p:nvPr/>
        </p:nvSpPr>
        <p:spPr>
          <a:xfrm>
            <a:off x="4643942" y="4708826"/>
            <a:ext cx="2925318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lang="en-US" sz="1050" b="1" dirty="0">
                <a:solidFill>
                  <a:srgbClr val="0F172A"/>
                </a:solidFill>
              </a:rPr>
              <a:t>Scalability layer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643942" y="4964792"/>
            <a:ext cx="2925318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 sz="1100">
                <a:solidFill>
                  <a:srgbClr val="5A6478"/>
                </a:solidFill>
              </a:defRPr>
            </a:pPr>
            <a:r>
              <a:rPr lang="en-US" sz="870" dirty="0">
                <a:solidFill>
                  <a:srgbClr val="64748B"/>
                </a:solidFill>
              </a:rPr>
              <a:t>Move from static demo data to live enterprise sources, Fabric, Lakehouse, and Azure/OpenAI services.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7998916" y="4571702"/>
            <a:ext cx="3245275" cy="822746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44" name="Shape 42"/>
          <p:cNvSpPr/>
          <p:nvPr/>
        </p:nvSpPr>
        <p:spPr>
          <a:xfrm>
            <a:off x="7998916" y="4571702"/>
            <a:ext cx="63991" cy="82274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45" name="Text 43"/>
          <p:cNvSpPr/>
          <p:nvPr/>
        </p:nvSpPr>
        <p:spPr>
          <a:xfrm>
            <a:off x="8163465" y="4708826"/>
            <a:ext cx="2925318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lang="en-US" sz="1050" b="1" dirty="0">
                <a:solidFill>
                  <a:srgbClr val="0F172A"/>
                </a:solidFill>
              </a:rPr>
              <a:t>Business layer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163465" y="4964792"/>
            <a:ext cx="2925318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 sz="1100">
                <a:solidFill>
                  <a:srgbClr val="5A6478"/>
                </a:solidFill>
              </a:defRPr>
            </a:pPr>
            <a:r>
              <a:rPr lang="en-US" sz="870" dirty="0">
                <a:solidFill>
                  <a:srgbClr val="64748B"/>
                </a:solidFill>
              </a:rPr>
              <a:t>Dashboard for fixed visibility; AI chat for flexible diagnostic exploration.</a:t>
            </a:r>
            <a:endParaRPr lang="en-US" sz="870" dirty="0"/>
          </a:p>
        </p:txBody>
      </p:sp>
      <p:sp>
        <p:nvSpPr>
          <p:cNvPr id="47" name="Text 45"/>
          <p:cNvSpPr/>
          <p:nvPr/>
        </p:nvSpPr>
        <p:spPr>
          <a:xfrm>
            <a:off x="502788" y="6473159"/>
            <a:ext cx="7678960" cy="228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lang="en-US" sz="750" dirty="0">
                <a:solidFill>
                  <a:srgbClr val="7E8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Operational Analytics Command Center • Portfolio Showcase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1244190" y="6464018"/>
            <a:ext cx="411373" cy="228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defRPr sz="1300" b="1">
                <a:solidFill>
                  <a:srgbClr val="0F172A"/>
                </a:solidFill>
              </a:defRPr>
            </a:pPr>
            <a:r>
              <a:rPr lang="en-US" sz="800" b="1" dirty="0">
                <a:solidFill>
                  <a:srgbClr val="7E8EA4"/>
                </a:solidFill>
              </a:rPr>
              <a:t>07</a:t>
            </a:r>
            <a:endParaRPr lang="en-US" sz="800" dirty="0"/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12188825" cy="54864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0" y="6803136"/>
            <a:ext cx="12188825" cy="54864"/>
          </a:xfrm>
          <a:prstGeom prst="rect">
            <a:avLst/>
          </a:prstGeom>
          <a:solidFill>
            <a:srgbClr val="080F23"/>
          </a:solidFill>
          <a:ln>
            <a:solidFill>
              <a:srgbClr val="080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1C30"/>
                </a:solidFill>
              </a:defRPr>
            </a:pPr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12188825" cy="73152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17</TotalTime>
  <Words>634</Words>
  <Application>Microsoft Office PowerPoint</Application>
  <PresentationFormat>Custom</PresentationFormat>
  <Paragraphs>96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Calibri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Syed Wajid</cp:lastModifiedBy>
  <cp:revision>7</cp:revision>
  <dcterms:created xsi:type="dcterms:W3CDTF">2013-01-27T09:14:16Z</dcterms:created>
  <dcterms:modified xsi:type="dcterms:W3CDTF">2026-05-17T19:45:41Z</dcterms:modified>
  <cp:category/>
</cp:coreProperties>
</file>